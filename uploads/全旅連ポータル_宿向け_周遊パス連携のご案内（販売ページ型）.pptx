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4" r:id="rId2"/>
    <p:sldId id="289" r:id="rId3"/>
    <p:sldId id="290" r:id="rId4"/>
    <p:sldId id="302" r:id="rId5"/>
    <p:sldId id="274" r:id="rId6"/>
    <p:sldId id="283" r:id="rId7"/>
    <p:sldId id="303" r:id="rId8"/>
    <p:sldId id="276" r:id="rId9"/>
    <p:sldId id="284" r:id="rId10"/>
    <p:sldId id="28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86" y="4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92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502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地方創生  /  REGIONAL VITALIZATION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109728" cy="105156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宿泊施設を“クルマ旅の起点”に</a:t>
            </a:r>
            <a:r>
              <a:rPr lang="en-US" sz="4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05156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高速料金の割引を</a:t>
            </a:r>
            <a:r>
              <a:rPr 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</a:t>
            </a:r>
            <a:r>
              <a:rPr lang="ja-JP" alt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地方創生</a:t>
            </a:r>
            <a:r>
              <a:rPr 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</a:t>
            </a:r>
            <a:r>
              <a:rPr lang="ja-JP" alt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の起爆剤に</a:t>
            </a:r>
            <a:r>
              <a:rPr 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ETC周遊割引</a:t>
            </a:r>
            <a:r>
              <a:rPr lang="en-US" sz="20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× 公式サイト予約で、地域への送客を実現する連携サービス</a:t>
            </a:r>
          </a:p>
        </p:txBody>
      </p:sp>
      <p:sp>
        <p:nvSpPr>
          <p:cNvPr id="7" name="Text 5"/>
          <p:cNvSpPr/>
          <p:nvPr/>
        </p:nvSpPr>
        <p:spPr>
          <a:xfrm>
            <a:off x="838200" y="5963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提供：</a:t>
            </a:r>
            <a:r>
              <a:rPr lang="en-US" sz="16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株式会社ピアトゥー</a:t>
            </a: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／　NEXCO東日本 &amp; NEXCO中日本 &amp; NEXCO西日本の高速道路周遊パスと順次連携</a:t>
            </a:r>
          </a:p>
        </p:txBody>
      </p:sp>
    </p:spTree>
    <p:extLst>
      <p:ext uri="{BB962C8B-B14F-4D97-AF65-F5344CB8AC3E}">
        <p14:creationId xmlns:p14="http://schemas.microsoft.com/office/powerpoint/2010/main" val="401020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「高速道路周遊パス」とは？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</a:t>
            </a:r>
            <a:r>
              <a:rPr lang="en-US" altLang="ja-JP" sz="17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r>
              <a:rPr lang="en-US" sz="17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社が提供する、クルマ旅向けの“高速道路がお得になる”割引商品です。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対象エリア内の高速道路を</a:t>
            </a:r>
            <a:r>
              <a:rPr lang="ja-JP" alt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安価な</a:t>
            </a:r>
            <a:r>
              <a:rPr lang="en-US" sz="1400" dirty="0" err="1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定額で乗り放題</a:t>
            </a:r>
            <a:r>
              <a:rPr 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宿泊予約と組み合わせるとクルマ旅の</a:t>
            </a:r>
            <a:r>
              <a:rPr lang="ja-JP" alt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総コスト</a:t>
            </a:r>
            <a:r>
              <a:rPr lang="en-US" sz="1400" dirty="0" err="1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が下が</a:t>
            </a:r>
            <a:r>
              <a:rPr lang="ja-JP" alt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るため</a:t>
            </a:r>
            <a:r>
              <a:rPr lang="en-US" sz="14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、クルマでの周遊・連泊・広域観光を促しやすくなります。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提供するのは、NEXCO3社の高速道路周遊パス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NEXCO東日本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627C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2026年8月開始予定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NEXCO中日本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速旅（はやたび）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17720" y="43891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17720" y="4389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NEXCO西日本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38862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みち旅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12480" y="43891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627C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412480" y="4389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2026年秋開始予定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6146800"/>
            <a:ext cx="11064240" cy="66040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68680" y="6146800"/>
            <a:ext cx="1042416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こんなにお得なサービスなのに、まだ知られていない——</a:t>
            </a:r>
            <a:r>
              <a:rPr lang="en-US" sz="15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</a:t>
            </a:r>
            <a:r>
              <a:rPr lang="ja-JP" alt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活用す</a:t>
            </a:r>
            <a:r>
              <a:rPr lang="en-US" sz="15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れば</a:t>
            </a:r>
            <a:r>
              <a:rPr 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</a:t>
            </a:r>
            <a:r>
              <a:rPr lang="ja-JP" alt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</a:t>
            </a:r>
            <a:r>
              <a:rPr lang="en-US" sz="15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差別化”になります</a:t>
            </a:r>
            <a:r>
              <a:rPr 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高速道路周遊パスは「公式サイトからの宿泊予約」が利用の条件</a:t>
            </a:r>
            <a:r>
              <a:rPr lang="en-US" sz="1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r>
              <a:rPr lang="ja-JP" altLang="en-US" sz="1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r>
              <a:rPr lang="en-US" sz="1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</a:t>
            </a:r>
            <a:r>
              <a:rPr lang="en-US" sz="14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公式予約を選ぶ理由”になります</a:t>
            </a:r>
            <a:r>
              <a:rPr lang="en-US" sz="1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00622FC6-8DF2-7BB0-037C-74D8EC08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4876800"/>
            <a:ext cx="88900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6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宿泊施設にとってのメリット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</a:t>
            </a:r>
            <a:r>
              <a:rPr lang="en-US" sz="16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旅行費の</a:t>
            </a:r>
            <a:r>
              <a:rPr lang="ja-JP" alt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総額を削減</a:t>
            </a: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”</a:t>
            </a:r>
            <a:r>
              <a:rPr lang="ja-JP" alt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</a:t>
            </a: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en-US" sz="16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宿泊予約の</a:t>
            </a:r>
            <a:r>
              <a:rPr lang="ja-JP" alt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活性化に寄与します。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1468" cy="269748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77240" y="2039112"/>
            <a:ext cx="2144268" cy="502920"/>
          </a:xfrm>
          <a:prstGeom prst="roundRect">
            <a:avLst>
              <a:gd name="adj" fmla="val 9091"/>
            </a:avLst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2144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r>
              <a:rPr lang="en-US" sz="14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</a:t>
            </a: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力</a:t>
            </a:r>
            <a:r>
              <a:rPr lang="en-US" sz="14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5282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交通費が下がる分、旅行検討のハードルが低下。遠方からの来訪・予約を後押しします。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78708" y="1783080"/>
            <a:ext cx="2601468" cy="269748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07308" y="2039112"/>
            <a:ext cx="2144268" cy="502920"/>
          </a:xfrm>
          <a:prstGeom prst="roundRect">
            <a:avLst>
              <a:gd name="adj" fmla="val 9091"/>
            </a:avLst>
          </a:prstGeom>
          <a:solidFill>
            <a:srgbClr val="2E6E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07308" y="2039112"/>
            <a:ext cx="2144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客単価アップ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3028" y="2743200"/>
            <a:ext cx="205282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浮いた交通費が、宿泊費・食事・体験・お土産などの消費に回りやすくなります。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8776" y="1783080"/>
            <a:ext cx="2601468" cy="269748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364547" y="2039112"/>
            <a:ext cx="2217097" cy="502920"/>
          </a:xfrm>
          <a:prstGeom prst="roundRect">
            <a:avLst>
              <a:gd name="adj" fmla="val 9091"/>
            </a:avLst>
          </a:prstGeom>
          <a:solidFill>
            <a:srgbClr val="3C855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37375" y="2039112"/>
            <a:ext cx="22170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公式予約シェアアップ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3096" y="2743200"/>
            <a:ext cx="205282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特典は公式予約だけの付加価値。OTA依存を下げ、自社予約の価値を高めます。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38844" y="1783080"/>
            <a:ext cx="2601468" cy="269748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9267444" y="2039112"/>
            <a:ext cx="2144268" cy="502920"/>
          </a:xfrm>
          <a:prstGeom prst="roundRect">
            <a:avLst>
              <a:gd name="adj" fmla="val 9091"/>
            </a:avLst>
          </a:prstGeom>
          <a:solidFill>
            <a:srgbClr val="4FA37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267444" y="2039112"/>
            <a:ext cx="2144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地域経済への貢献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13164" y="2743200"/>
            <a:ext cx="205282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宿を単なる宿泊地ではなく、ドライブ観光・地域回遊の“起点”にできます。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51400"/>
            <a:ext cx="11064240" cy="11684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68680" y="4851400"/>
            <a:ext cx="10424160" cy="1168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宿泊料金を下げずに、お客様の“旅全体の負担感”を下げられる——選ばれる宿への近道です。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ja-JP" altLang="en-US" sz="12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</a:t>
            </a:r>
            <a:r>
              <a:rPr lang="en-US" sz="1200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通年</a:t>
            </a:r>
            <a:r>
              <a:rPr lang="ja-JP" altLang="en-US" sz="12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で利用可能</a:t>
            </a:r>
            <a:r>
              <a:rPr lang="en-US" sz="12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r>
              <a:rPr lang="en-US" sz="1200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使えないのはお盆・年末年始・一部の連休などごく一部で、通常の週末も連泊も対象です</a:t>
            </a:r>
            <a:r>
              <a:rPr lang="en-US" sz="12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他の交通系割引より利用できる期間は長く、平日・連泊の集客装置になります</a:t>
            </a:r>
            <a:r>
              <a:rPr lang="en-US" sz="12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780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3C2C462-89D7-45D6-872D-DB6AC43B966D}"/>
              </a:ext>
            </a:extLst>
          </p:cNvPr>
          <p:cNvSpPr/>
          <p:nvPr/>
        </p:nvSpPr>
        <p:spPr>
          <a:xfrm>
            <a:off x="3289300" y="2552700"/>
            <a:ext cx="5232400" cy="304800"/>
          </a:xfrm>
          <a:prstGeom prst="roundRect">
            <a:avLst/>
          </a:prstGeom>
          <a:solidFill>
            <a:srgbClr val="EEF2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DE8A7EC-BC07-4491-89E0-631DC46201C4}"/>
              </a:ext>
            </a:extLst>
          </p:cNvPr>
          <p:cNvSpPr/>
          <p:nvPr/>
        </p:nvSpPr>
        <p:spPr>
          <a:xfrm>
            <a:off x="3289300" y="2006600"/>
            <a:ext cx="5232400" cy="304800"/>
          </a:xfrm>
          <a:prstGeom prst="roundRect">
            <a:avLst/>
          </a:prstGeom>
          <a:solidFill>
            <a:srgbClr val="EEF2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A9B4011-0593-4A7F-B8B7-3456D2B55305}"/>
              </a:ext>
            </a:extLst>
          </p:cNvPr>
          <p:cNvSpPr/>
          <p:nvPr/>
        </p:nvSpPr>
        <p:spPr>
          <a:xfrm>
            <a:off x="3289300" y="1460500"/>
            <a:ext cx="5232400" cy="304800"/>
          </a:xfrm>
          <a:prstGeom prst="roundRect">
            <a:avLst/>
          </a:prstGeom>
          <a:solidFill>
            <a:srgbClr val="EEF2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どれだけお得か（料金イメージ）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3309851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一般の高速道路周遊パス</a:t>
            </a:r>
            <a:r>
              <a:rPr lang="ja-JP" alt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と比較して、</a:t>
            </a:r>
            <a:r>
              <a:rPr lang="en-US" sz="16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宿泊セット</a:t>
            </a:r>
            <a:r>
              <a:rPr lang="ja-JP" alt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型の高速道路周遊パスは</a:t>
            </a:r>
            <a:r>
              <a:rPr lang="en-US" sz="1600" b="1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どれだけお得か（普通車・代表例</a:t>
            </a: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　※1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3802611"/>
          <a:ext cx="10515600" cy="18288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NEXCO・代表プラン（区間・日数）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一般 → 宿泊セット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お得（率）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西｜みち旅・九州全域（3日）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8,400 → 7,400 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▲1,000円（約12%）※2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東｜ドラ割・北海道（4日）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10,700 → 7,700 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▲3,000円（約28%）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中｜速旅・南信州（3日）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563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9,700 → 5,400 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▲4,300円（約44%）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98193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※1 表の金額・割引率は、すべて「一般の高速道路周遊パス → 宿泊セット型」で比較した数値です（普通車・代表例。区間・日数・車種により異なります）。中日本「速旅」は稼働中の実例、東日本（ドラ割）・西日本（みち旅）は開始前のためNEXCO公開情報に基づく想定値で、料金・開始時期・対象は変更の可能性があります。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※2 西日本の約12%は宿泊連携による“上乗せ分”です。通常の高速料金と比べたお得は、これとは別にあります。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※3 「約7割オフ」は通常の高速料金を起点とした概算です。周遊パスで半額以上オフ（約50%）→ さらに宿泊セット型で一般パスから最大44%オフ、を掛け合わせた推計値（100→約28＝約72%減）で、区間・日数・車種により異なります。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A911AD-2A2B-48FD-8B93-2D55C482994E}"/>
              </a:ext>
            </a:extLst>
          </p:cNvPr>
          <p:cNvSpPr txBox="1"/>
          <p:nvPr/>
        </p:nvSpPr>
        <p:spPr>
          <a:xfrm>
            <a:off x="548640" y="1422400"/>
            <a:ext cx="2387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 b="1">
                <a:solidFill>
                  <a:srgbClr val="1E5631"/>
                </a:solidFill>
                <a:latin typeface="Yu Gothic"/>
                <a:ea typeface="Yu Gothic"/>
              </a:rPr>
              <a:t>通常の高速料金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2DA8B888-B9C3-4F15-8B7F-861C826EC294}"/>
              </a:ext>
            </a:extLst>
          </p:cNvPr>
          <p:cNvSpPr/>
          <p:nvPr/>
        </p:nvSpPr>
        <p:spPr>
          <a:xfrm>
            <a:off x="3309620" y="1460500"/>
            <a:ext cx="5232400" cy="304800"/>
          </a:xfrm>
          <a:prstGeom prst="roundRect">
            <a:avLst/>
          </a:prstGeom>
          <a:solidFill>
            <a:srgbClr val="C9D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E2B846-D588-42FD-A071-00CC6B26A6C6}"/>
              </a:ext>
            </a:extLst>
          </p:cNvPr>
          <p:cNvSpPr txBox="1"/>
          <p:nvPr/>
        </p:nvSpPr>
        <p:spPr>
          <a:xfrm>
            <a:off x="8950960" y="1422400"/>
            <a:ext cx="101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>
                <a:solidFill>
                  <a:srgbClr val="5A6472"/>
                </a:solidFill>
                <a:latin typeface="Yu Gothic"/>
                <a:ea typeface="Yu Gothic"/>
              </a:rPr>
              <a:t>基準（</a:t>
            </a:r>
            <a:r>
              <a:rPr lang="en-US" altLang="ja-JP" sz="1300">
                <a:solidFill>
                  <a:srgbClr val="5A6472"/>
                </a:solidFill>
                <a:latin typeface="Yu Gothic"/>
                <a:ea typeface="Yu Gothic"/>
              </a:rPr>
              <a:t>100%</a:t>
            </a:r>
            <a:r>
              <a:rPr lang="ja-JP" altLang="en-US" sz="1300">
                <a:solidFill>
                  <a:srgbClr val="5A6472"/>
                </a:solidFill>
                <a:latin typeface="Yu Gothic"/>
                <a:ea typeface="Yu Gothic"/>
              </a:rPr>
              <a:t>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362E4A5-E40B-4B6C-B09E-526BE45E7EDC}"/>
              </a:ext>
            </a:extLst>
          </p:cNvPr>
          <p:cNvSpPr txBox="1"/>
          <p:nvPr/>
        </p:nvSpPr>
        <p:spPr>
          <a:xfrm>
            <a:off x="548640" y="1968500"/>
            <a:ext cx="2387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 b="1">
                <a:solidFill>
                  <a:srgbClr val="1E5631"/>
                </a:solidFill>
                <a:latin typeface="Yu Gothic"/>
                <a:ea typeface="Yu Gothic"/>
              </a:rPr>
              <a:t>一般の高速道路周遊パス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071DD5A-0C4D-40F9-A9C9-394BDA741A37}"/>
              </a:ext>
            </a:extLst>
          </p:cNvPr>
          <p:cNvSpPr/>
          <p:nvPr/>
        </p:nvSpPr>
        <p:spPr>
          <a:xfrm>
            <a:off x="3309620" y="2006600"/>
            <a:ext cx="2745740" cy="304800"/>
          </a:xfrm>
          <a:prstGeom prst="roundRect">
            <a:avLst/>
          </a:prstGeom>
          <a:solidFill>
            <a:srgbClr val="3E8E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0B62108-4CFE-4226-B7B7-DFF8E38A92F1}"/>
              </a:ext>
            </a:extLst>
          </p:cNvPr>
          <p:cNvSpPr txBox="1"/>
          <p:nvPr/>
        </p:nvSpPr>
        <p:spPr>
          <a:xfrm>
            <a:off x="6159500" y="1968500"/>
            <a:ext cx="4239259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>
                <a:solidFill>
                  <a:srgbClr val="1E5631"/>
                </a:solidFill>
                <a:latin typeface="Yu Gothic"/>
                <a:ea typeface="Yu Gothic"/>
              </a:rPr>
              <a:t>半額以上オフ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B6AA8D0-767C-4A41-B9C7-BC476F1D5C0B}"/>
              </a:ext>
            </a:extLst>
          </p:cNvPr>
          <p:cNvSpPr txBox="1"/>
          <p:nvPr/>
        </p:nvSpPr>
        <p:spPr>
          <a:xfrm>
            <a:off x="548640" y="2514600"/>
            <a:ext cx="2387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1E5631"/>
                </a:solidFill>
                <a:latin typeface="Yu Gothic"/>
                <a:ea typeface="Yu Gothic"/>
              </a:rPr>
              <a:t>宿泊セット型高速道路周遊パス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051CEE1C-E61B-4E4C-9407-9B98CCE935A2}"/>
              </a:ext>
            </a:extLst>
          </p:cNvPr>
          <p:cNvSpPr/>
          <p:nvPr/>
        </p:nvSpPr>
        <p:spPr>
          <a:xfrm>
            <a:off x="3289300" y="2552700"/>
            <a:ext cx="1524000" cy="304800"/>
          </a:xfrm>
          <a:prstGeom prst="roundRect">
            <a:avLst/>
          </a:prstGeom>
          <a:solidFill>
            <a:srgbClr val="1E56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490E3F-3760-4A6D-81A5-F3B8DF70BBFA}"/>
              </a:ext>
            </a:extLst>
          </p:cNvPr>
          <p:cNvSpPr txBox="1"/>
          <p:nvPr/>
        </p:nvSpPr>
        <p:spPr>
          <a:xfrm>
            <a:off x="5741555" y="2397991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1E5631"/>
                </a:solidFill>
                <a:latin typeface="Yu Gothic"/>
                <a:ea typeface="Yu Gothic"/>
              </a:rPr>
              <a:t>通常料金から最大 </a:t>
            </a:r>
            <a:r>
              <a:rPr lang="ja-JP" altLang="en-US" sz="2800" b="1" dirty="0">
                <a:solidFill>
                  <a:srgbClr val="2E7D5B"/>
                </a:solidFill>
                <a:latin typeface="Yu Gothic"/>
                <a:ea typeface="Yu Gothic"/>
              </a:rPr>
              <a:t>約7割</a:t>
            </a:r>
            <a:r>
              <a:rPr lang="ja-JP" altLang="en-US" sz="1800" b="1" dirty="0">
                <a:solidFill>
                  <a:srgbClr val="2E7D5B"/>
                </a:solidFill>
                <a:latin typeface="Yu Gothic"/>
                <a:ea typeface="Yu Gothic"/>
              </a:rPr>
              <a:t> オフ</a:t>
            </a:r>
            <a:r>
              <a:rPr lang="ja-JP" altLang="en-US" sz="1100" b="1" baseline="30000" dirty="0">
                <a:solidFill>
                  <a:srgbClr val="8A93A0"/>
                </a:solidFill>
                <a:latin typeface="Yu Gothic"/>
                <a:ea typeface="Yu Gothic"/>
              </a:rPr>
              <a:t> ※3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E4A6A08-9DC8-4C0C-8E9E-182B20F9A2B1}"/>
              </a:ext>
            </a:extLst>
          </p:cNvPr>
          <p:cNvSpPr txBox="1"/>
          <p:nvPr/>
        </p:nvSpPr>
        <p:spPr>
          <a:xfrm>
            <a:off x="3362960" y="17780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tIns="0" bIns="0" rtlCol="0" anchor="ctr" anchorCtr="0">
            <a:noAutofit/>
          </a:bodyPr>
          <a:lstStyle/>
          <a:p>
            <a:pPr algn="l"/>
            <a:r>
              <a:rPr lang="en-US" altLang="ja-JP" sz="1100" b="1">
                <a:solidFill>
                  <a:srgbClr val="2E7D5B"/>
                </a:solidFill>
                <a:latin typeface="Yu Gothic"/>
                <a:ea typeface="Yu Gothic"/>
              </a:rPr>
              <a:t>↓ STEP① </a:t>
            </a:r>
            <a:r>
              <a:rPr lang="ja-JP" altLang="en-US" sz="1100" b="1">
                <a:solidFill>
                  <a:srgbClr val="2E7D5B"/>
                </a:solidFill>
                <a:latin typeface="Yu Gothic"/>
                <a:ea typeface="Yu Gothic"/>
              </a:rPr>
              <a:t>高速道路周遊パスで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BC9AA88-8C78-4994-B99B-18365E0CBFC9}"/>
              </a:ext>
            </a:extLst>
          </p:cNvPr>
          <p:cNvSpPr txBox="1"/>
          <p:nvPr/>
        </p:nvSpPr>
        <p:spPr>
          <a:xfrm>
            <a:off x="3342640" y="23241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tIns="0" bIns="0" rtlCol="0" anchor="ctr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2E7D5B"/>
                </a:solidFill>
                <a:latin typeface="Yu Gothic"/>
                <a:ea typeface="Yu Gothic"/>
              </a:rPr>
              <a:t>↓ </a:t>
            </a:r>
            <a:r>
              <a:rPr lang="en-US" altLang="ja-JP" sz="1100" b="1">
                <a:solidFill>
                  <a:srgbClr val="2E7D5B"/>
                </a:solidFill>
                <a:latin typeface="Yu Gothic"/>
                <a:ea typeface="Yu Gothic"/>
              </a:rPr>
              <a:t>STEP② </a:t>
            </a:r>
            <a:r>
              <a:rPr lang="ja-JP" altLang="en-US" sz="1100" b="1">
                <a:solidFill>
                  <a:srgbClr val="2E7D5B"/>
                </a:solidFill>
                <a:latin typeface="Yu Gothic"/>
                <a:ea typeface="Yu Gothic"/>
              </a:rPr>
              <a:t>宿泊セットで</a:t>
            </a:r>
          </a:p>
        </p:txBody>
      </p:sp>
    </p:spTree>
    <p:extLst>
      <p:ext uri="{BB962C8B-B14F-4D97-AF65-F5344CB8AC3E}">
        <p14:creationId xmlns:p14="http://schemas.microsoft.com/office/powerpoint/2010/main" val="237802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利用者アンケートが示す効果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87500"/>
            <a:ext cx="3520440" cy="2603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818639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8575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「高速道路周遊パスが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宿選びの後押しになった」と回答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20140" y="37211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20140" y="37211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選ばれる競争力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87500"/>
            <a:ext cx="3520440" cy="2603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43400" y="1818639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97%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617720" y="28575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高速道路周遊パスの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再利用に前向き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4900" y="37211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14900" y="37211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リピート獲得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587500"/>
            <a:ext cx="3520440" cy="2603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  <a:effectLst>
            <a:outerShdw blurRad="76200" dist="25400" dir="5400000" algn="bl" rotWithShape="0">
              <a:srgbClr val="B8C0C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138160" y="1818639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412480" y="28575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「ふだんは選ばない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地域・宿」へ初めて来訪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09660" y="37211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709660" y="37211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新規顧客の獲得機会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085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68680" y="45085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中日本「速旅」は2025年5月から稼働中。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対象の温泉地・施設で継続してご利用いただき、新規エリアへの送客・連泊・再訪につながっています</a:t>
            </a:r>
            <a:r>
              <a:rPr lang="en-US" sz="140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689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出典：当社「STAYNAVI VALUE DRIVE ご利用後アンケート」n=304（2026年4月〜6月上旬）。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5477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今こそ動く理由 — 早く始める価値と先行メリット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BE4DD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OTA手数料の流出を、公式予約で止める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試算イメージ</a:t>
            </a:r>
            <a:endParaRPr lang="en-US" sz="12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高速道路周遊パス付（VALUE DRIVE対象）の公式予約が 月30件・平均単価28,000円 の場合</a:t>
            </a:r>
            <a:endParaRPr lang="en-US" sz="1200" dirty="0"/>
          </a:p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OTA手数料（12%で試算）… 月 100,800円</a:t>
            </a:r>
            <a:endParaRPr lang="en-US" sz="12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本サービス（3%）　　… 月 25,200円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差額 月75,600円＝年 約91万円（75,600円×12ヶ月）の手数料削減イメージ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46520" y="16276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先に入れた宿が、地域で有利に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4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同じICを使うお客様は、高速代が浮く宿（＝本サービス対応の公式予約）を選びやすい。近隣で対応が進むほど、未対応の宿は選ばれにくくなります。</a:t>
            </a:r>
            <a:endParaRPr lang="en-US" sz="1250" dirty="0"/>
          </a:p>
          <a:p>
            <a:pPr marL="0" indent="0" algn="l">
              <a:lnSpc>
                <a:spcPct val="124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東日本（2026年8月）・西日本（秋）の開始に向け、いま参加施設を募集中。今が“先行エントリー”のタイミングです。</a:t>
            </a:r>
            <a:endParaRPr lang="en-US" sz="12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覚書・参加申請を先に済ませれば、開始と同時にスタートダッシュ。組合・地域単位の先行登録も可能です。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2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</a:t>
            </a:r>
            <a:r>
              <a:rPr lang="ja-JP" altLang="en-US" sz="16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高速道路周遊パスの活用</a:t>
            </a:r>
            <a:r>
              <a:rPr lang="en-US" sz="16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</a:t>
            </a:r>
            <a:r>
              <a:rPr lang="en-US" sz="1600" b="1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は、早く始めた宿ほど</a:t>
            </a:r>
            <a:r>
              <a:rPr lang="ja-JP" altLang="en-US" sz="16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</a:t>
            </a:r>
            <a:r>
              <a:rPr lang="en-US" sz="1600" b="1" dirty="0" err="1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武器になります</a:t>
            </a:r>
            <a:r>
              <a:rPr lang="en-US" sz="1600" b="1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626793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平均単価28,000円は当社実績の平均値、件数は例示です。OTA手数料率は一般に10〜15%程度で、ここでは中央値の12%を採用しています。実際の削減効果は予約構成により異なります。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9413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なぜ、全旅連として取り組むのか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宿泊施設が起点になることで、地域全体の周遊消費を増やせます。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93800" y="2221992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93800" y="2221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宿が起点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4700" y="280720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クルマ旅の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公式予約を後押し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1965960"/>
            <a:ext cx="256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9659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013200" y="2221992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3E8E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013200" y="2221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地域を周遊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4100" y="280720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定額乗り放題で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近隣の観光地へ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71032" y="1965960"/>
            <a:ext cx="256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9659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832600" y="2221992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3E8E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32600" y="2221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地域で消費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3500" y="280720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飲食・土産・体験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へ支出が波及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87384" y="1965960"/>
            <a:ext cx="256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97696" y="19659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9639300" y="2221992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639300" y="2221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連泊・再訪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0200" y="280720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滞在の長期化と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リピーター化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AF2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地方創生の視点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48056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クルマ旅は広域周遊と相性がよく、宿が高速道路周遊パスを案内することで、地域内の観光・飲食・体験への消費が広がります。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宿単体の売上支援にとどまらず、地域経済への波及が期待でき、全旅連として宿泊業界の価値向上・地域貢献につながります。NEXCOとの公式連携により、地域・組合単位での展開も可能です。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7022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導入の流れと、はじめやすさ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導入の流れ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" cy="512064"/>
          </a:xfrm>
          <a:prstGeom prst="ellipse">
            <a:avLst/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覚書を締結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12064" cy="512064"/>
          </a:xfrm>
          <a:prstGeom prst="ellipse">
            <a:avLst/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50592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STAYNAVI管理画面で参加申請（施設ごと）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512064" cy="512064"/>
          </a:xfrm>
          <a:prstGeom prst="ellipse">
            <a:avLst/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02666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ピアトゥー・NEXCO側で掲載準備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512064" cy="512064"/>
          </a:xfrm>
          <a:prstGeom prst="ellipse">
            <a:avLst/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6027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602736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公式サイト・予約画面へ情報掲載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512064" cy="512064"/>
          </a:xfrm>
          <a:prstGeom prst="ellipse">
            <a:avLst/>
          </a:prstGeom>
          <a:solidFill>
            <a:srgbClr val="1E563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178808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公開・運用開始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89520" y="14173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863840" y="16276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はじめやすい費用設計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0" y="205740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初期費用：0円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月額固定費：0円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利用料：宿泊実績の3%（下限1,000円）の成果課金のみ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89520" y="37490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86384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安心して導入できます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0" y="4315968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お使いの主要な公式予約エンジンに順次対応</a:t>
            </a:r>
            <a:endParaRPr lang="en-US" sz="125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NEXCO3社・全旅連と連携のもと提供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E5A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掲載準備・案内文・バナーは当社が用意（施設は公式サイト掲載が中心）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6766560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対象：クルマ来訪が中心の地方部・温泉地・リゾート／NEXCO対象エリア内・周辺</a:t>
            </a:r>
            <a:r>
              <a:rPr lang="en-US" sz="125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19144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よくあるご質問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04672" y="1453896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施設の費用はかかりますか？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初期費用・月額固定費はなし。利用料は宿泊実績の3%（下限1,000円）の成果課金のみです。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73952" y="1453896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対象エリア・NEXCOは？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1783080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NEXCO中日本「速旅」が稼働中。東日本「ドラ割」2026年8月、西日本「みち旅」2026年秋に順次拡大予定です。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04672" y="2697480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OTA予約でも使えますか？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026664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いいえ。公式サイトからの予約のみが対象です。だからこそ“公式予約を選ぶ理由”になります。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946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697480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外国人・レンタカーでも使える？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026664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日本の高速道路で使えるETC車載器搭載車であれば利用可。レンタカーのETC＋STAYNAVI会員登録でご利用いただけます。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既存の宿泊プランは？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27024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全宿泊プランを対象にも、専用プラン限定にも設定可能。利益率に合わせて選べます。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13048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73952" y="3941064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施設の作業負担は？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427024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公式サイトへの掲載が中心。バナー・案内文・専用プラン作成などは当社がサポートします。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56632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04672" y="5184648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利用の条件は？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5513832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宿のチェックイン日と高速道路周遊パスの利用開始日は同日。普通車等のETC車が対象です（詳細は別途ご案内）。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056632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73952" y="5184648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3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解約・退会したい場合は？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5513832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サポートセンターへご連絡ください。手続きをご案内します。違約金等はありません。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0321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109728" cy="56692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41248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まずは20分のオンライン説明から。自施設・自地域で使えるか、お気軽にご確認ください。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4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4300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宿泊施設さま専用サポートセンター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　</a:t>
            </a:r>
            <a:r>
              <a:rPr lang="en-US" sz="22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050-2030-5999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MAIL　</a:t>
            </a:r>
            <a:r>
              <a:rPr lang="en-US" sz="1400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hotel-valuedrive@peerto.jp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受付：平日10:00〜（年末年始等を除く）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EAF2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720840" y="2468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サービス提供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88036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56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株式会社ピアトゥー</a:t>
            </a:r>
            <a:endParaRPr lang="en-US" sz="18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STAYNAVI（ステイナビ）事業を運営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観光庁長官登録 旅行業／ISO認証取得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NEXCO3社と公式連携のもとサービスを提供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595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STAYNAVI VALUE DRIVE　|　全旅連 第8部会ポータル「地方創生」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82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2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ECD2B4-D996-493E-9792-6DEA41BE48A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20f1e5c-985e-460d-ab49-2e365a4bc1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992</Words>
  <Application>Microsoft Office PowerPoint</Application>
  <PresentationFormat>ワイド画面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Hidetoshi Makino</cp:lastModifiedBy>
  <cp:revision>11</cp:revision>
  <dcterms:created xsi:type="dcterms:W3CDTF">2026-06-07T14:36:15Z</dcterms:created>
  <dcterms:modified xsi:type="dcterms:W3CDTF">2026-06-08T00:42:14Z</dcterms:modified>
</cp:coreProperties>
</file>